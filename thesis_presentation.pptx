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Hybrid Crowd Density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for Edge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6E0"/>
                </a:solidFill>
              </a:rPr>
              <a:t>A Lightweight LCDNet + MobileCount + MobileNetV2 Router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46120"/>
            <a:ext cx="5760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4.35M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MAE 180.9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~55ms /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86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on NWPU-Crowd 500-image 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4343400"/>
            <a:ext cx="630936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4434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Group Thesis Presentation  ·  5-Member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84632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Datasets:  NWPU-Crowd  ·  ShanghaiTech Part A &amp; B
Hardware:  NVIDIA GeForce RTX 3050 (8 GB)  ·  Python 3.11  ·  PyTorch 2.6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Why do we need a hybrid approach?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303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Crowd monitoring is critical for public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4825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Real events: festivals, stadiums, emergencies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591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Traditional systems: cloud-dependent, high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700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Raw video transmission → privacy risk (GDPR)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3749039" cy="5303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8988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Single-Model Dilemma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373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Heavy models (CSRNet, 16.26M params): accurate but not edge-deployable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4825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Lightweight models alone: fast but insufficient for dense crowds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591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No single model handles both extremes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700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Crowd density spans 0 → 20,033 in NWPU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749039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389888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7373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Adaptive routing: pick the right model per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04825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LCDNet for sparse scenes (≤100 people)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5915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MobileCount (distilled) for dense scenes (&gt;100)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7004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Total system: 4.35M params, ~55ms, on-device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23444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258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Build a fully lightweight hybrid pipeline (≤5M params total) for edge crowd density estimation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0312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Train and domain-adapt specialist models: LCDNet for sparse, MobileCount (distilled) for dense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97180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97180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Design a learned router that dispatches each image to the correct specialist without human 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84048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Apply knowledge distillation (CSRNet teacher → MobileCount student) to improve accuracy at zero deployment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70916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Evaluate on NWPU-Crowd (500-image val) and zero-shot on ShanghaiTech Part A &amp;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7784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577840"/>
            <a:ext cx="11064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6692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Quantify the accuracy-efficiency trade-off with oracle, ablation, calibration, and threshold analyses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NWPU-Crowd (primary) · ShanghaiTech A &amp; B (cross-dataset eval)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NWPU-Crowd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5,109 images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61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2,133,375 head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6557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Count range: 0 – 20,033 per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696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Train: 3,109 · Val: 500 · Test: 1,500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Diverse scenes, lighting, perspectives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80160"/>
            <a:ext cx="3749039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ShanghaiTech Part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CROSS-DATASET (EVAL 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57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482 images (300 train, 182 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61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241,677 head annotations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46557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Count range: 33 – 3,139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696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Predominantly dense urban crowds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Zero-shot — never used in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28016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280160"/>
            <a:ext cx="3749039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ShanghaiTech Part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CROSS-DATASET (EVAL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057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716 images (400 train, 316 test)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61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88,488 head annotations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46557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Count range: 9 – 578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16966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Sparse street-level scenes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8737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Zero-shot — never used in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⚠  No ShanghaiTech samples used in any stage of training, validation, or hyperparameter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End-to-end hybrid inference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2148840" cy="3657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 IMAGE
384×384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103120"/>
            <a:ext cx="2148840" cy="36576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14884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MobileNetV2
ROUTER
2.55M params
4.8ms 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103120"/>
            <a:ext cx="214884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4884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LCDNet
SPARSE SPECIALIST
0.92M params
23.1ms GPU
(count ≤ 100)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103120"/>
            <a:ext cx="2148840" cy="3657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MobileCount
(DISTILLED)
DENSE SPECIALIST
0.88M params
3.4ms GPU
(count &gt; 100)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103120"/>
            <a:ext cx="2148840" cy="36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4884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DENSITY MAP
→ sum()
→ 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356616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356616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356616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356616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P(dense) ≥ p* = 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P(dense) &lt; 0.85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1447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9E0B"/>
                </a:solidFill>
              </a:rPr>
              <a:t>CSRNet (16.26M params) used as knowledge distillation TEACHER during training only — NEVER deployed at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806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Total Deployed: 4.354M parameters  ·  ~55ms avg end-to-end (RTX 3050)  ·  ~210ms CPU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Adaptive Gaussian density map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4_2_densit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526280"/>
            <a:ext cx="6858000" cy="2148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Density Map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83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σᵢ = β · d̄ᵢ   where   β = 0.3,   k = 3 nearest neighbours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9496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d̄ᵢ = mean Euclidean distance to 3 nearest head annotations
• Mass conservation enforced: ∬D(x,y)dxdy = N (head count)
• Fallback σ = 15px for single-annotation images
• σ clipped to [4.0, 30.0] pixels to prevent degenerate kernels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4526280"/>
            <a:ext cx="4709160" cy="2148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7200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Augmentation (Training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9560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Random horizontal flip (p=0.5)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528523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Random 384×384 crop from 512×512 (p=0.3)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5614416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Brightness ±20%, Contrast ±20%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9436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Saturation ±20%, Hue perturbation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6272784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Applied identically to image + density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LCDNet — Sparse Scene Specialist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Depthwise-separable encoder-decoder · 0.917M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4_4_lcd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188720"/>
            <a:ext cx="15087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188720"/>
            <a:ext cx="15544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234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2760" y="1188720"/>
            <a:ext cx="1417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12344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9164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73736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Encoder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69164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192×192×64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2760" y="169164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1737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~3.5K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19456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24028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Encoder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19456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240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96×96×128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219456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22402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~17K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69748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7432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Encoder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69748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48×48×256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2760" y="269748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27432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~66K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20040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32461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20040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246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48×48×512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320040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0" y="32461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~264K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70332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749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Decoder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370332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749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96×96×256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2760" y="370332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0" y="3749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~396K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420624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425196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Decoder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420624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251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192×192×128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2760" y="420624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0" y="42519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~99K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470916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475488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Decoder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70916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4754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384×384×64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52760" y="470916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98480" y="47548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~25K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521208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40" y="5257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Output Head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98280" y="521208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5257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384×384×1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521208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98480" y="52578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~18.5K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5715000"/>
            <a:ext cx="1508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5760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98280" y="5715000"/>
            <a:ext cx="15544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5760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0652760" y="5715000"/>
            <a:ext cx="14173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98480" y="57607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0.917M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343400"/>
            <a:ext cx="713232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389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Design Choices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77316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Depthwise separable convolutions: ~8× fewer params than standard convolutions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5221224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Skip connections preserve fine spatial detail across the downsampling hierarchy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6692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Full-resolution output (384×384) — higher accuracy than 1/8 resolution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117336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Domain-adapted on NWPU sparse subset: sparse MAE 273 → 21.5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MobileCount +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Dense specialist: 0.884M params · CSRNet teacher (never deployed)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4_3_disti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69480" y="1188720"/>
            <a:ext cx="470916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23444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Distillation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645920"/>
            <a:ext cx="1554480" cy="48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69164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645920"/>
            <a:ext cx="1463040" cy="48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9164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78440" y="1645920"/>
            <a:ext cx="1508760" cy="48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0" y="169164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Distilled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3600"/>
            <a:ext cx="155448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7932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133600"/>
            <a:ext cx="146304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17932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213.2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2133600"/>
            <a:ext cx="150876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17932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198.7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621280"/>
            <a:ext cx="155448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66700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621280"/>
            <a:ext cx="146304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66700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803.6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78440" y="2621280"/>
            <a:ext cx="150876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266700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778.5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3108960"/>
            <a:ext cx="155448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5468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108960"/>
            <a:ext cx="146304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15468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0.884M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3108960"/>
            <a:ext cx="150876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0" y="315468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0.884M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596640"/>
            <a:ext cx="155448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64236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GFLOPs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596640"/>
            <a:ext cx="146304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364236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3596640"/>
            <a:ext cx="150876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364236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4084320"/>
            <a:ext cx="155448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130040"/>
            <a:ext cx="146304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GPU (ms)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4084320"/>
            <a:ext cx="146304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4130040"/>
            <a:ext cx="137160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0" y="4084320"/>
            <a:ext cx="1508760" cy="487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4130040"/>
            <a:ext cx="141732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754880"/>
            <a:ext cx="1170432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Distillation Loss: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2120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 = 0.5 · MSE(student, GT)  +  0.5 · MSE(student, teacher)  +  0.05 · L1(count_student, count_GT)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7150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12 epochs · AdamW (lr=5×10⁻⁵) · Cosine LR · Best checkpoint at epoch 9  ·  ~4 hours on RTX 3050  ·  Teacher discarded after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355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→ 14.5 MAE improvement at ZERO deployment cost (same params, GFLOPs, latency)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Distillation Training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Per-epoch validation MAE — NWPU-Crowd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20_k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Routing Classifier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MobileNetV2 binary classifier · T = 100 (sparse/dense threshold)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4_8_router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7724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749039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Final Router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Val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88.80%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311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311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0.095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7063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Params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770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2.552M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GFLOPs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310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496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GPU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8496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4.8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89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CPU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8.9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9286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Best epoch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9286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10 of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4681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Train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5468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85.6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Primary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NWPU-Crowd Validation Set · 500 images · RTX 3050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1_syste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188720"/>
            <a:ext cx="1874519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23444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19" y="1188720"/>
            <a:ext cx="8229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39" y="1234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MAE↓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79" y="1188720"/>
            <a:ext cx="9144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9" y="1234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RMSE↓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27079" y="1188720"/>
            <a:ext cx="10515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799" y="12344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73736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78308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LCDNet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173736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348.0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79" y="173736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399" y="1783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1033.9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27079" y="173736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799" y="17830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28600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MobileCount (base)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19" y="228600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39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213.2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79" y="228600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9" y="2331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803.6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27079" y="228600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799" y="23317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83464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88036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MobileCount (distil)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19" y="283464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39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198.7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79" y="283464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399" y="2880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778.5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27079" y="283464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799" y="28803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38328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42900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Hybrid-Hard (base)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19" y="338328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39" y="3429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183.0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12679" y="338328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399" y="3429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787.7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27079" y="338328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799" y="3429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393192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397764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Hybrid-Soft (fusion)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19" y="393192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39" y="3977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182.6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12679" y="393192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399" y="3977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763.8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79" y="393192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799" y="39776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0" y="448056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452628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★ BEST (dist,p*=.85)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19" y="448056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39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180.9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12679" y="448056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399" y="4526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763.6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27079" y="448056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799" y="45262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5029200"/>
            <a:ext cx="1874519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60920" y="5074920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Oracle (upper bound)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19" y="5029200"/>
            <a:ext cx="8229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35439" y="5074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166.6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12679" y="5029200"/>
            <a:ext cx="914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399" y="5074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751.1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27079" y="5029200"/>
            <a:ext cx="10515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799" y="507492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983480"/>
            <a:ext cx="11704320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50292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Key Findings: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5394960"/>
            <a:ext cx="11521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Hybrid beats both standalone specialists: MAE 180.9 vs 198.7 (MobileCount) and 348.0 (LCDNet)
• Outperforms NWPU-Crowd paper baseline (218.0) by 37.1 MAE points
• Gap to oracle (166.6) = 14.3 MAE = cost of ~11% router misclassification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Density-Stratified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Where does routing help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2_stratified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188720"/>
            <a:ext cx="1444752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799" y="1234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SPARSE
(≤100 people, n=181)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799" y="237744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MobileCount: 84.5
Hybrid: 33.6
→ −60.2%!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1" y="1188720"/>
            <a:ext cx="1444752" cy="4114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1" y="1234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MEDIUM
(100–500, n=229)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9991" y="237744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MobileCount: 98.4
Hybrid: 99.5
≈ no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70463" y="1188720"/>
            <a:ext cx="14447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16183" y="1234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DENSE
(&gt;500, n=90)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6183" y="237744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MobileCount: 683.6
Hybrid: 692.8
both saturate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94960"/>
            <a:ext cx="11704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440680"/>
            <a:ext cx="11521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Routing's primary contribution is the sparse stratum:
60.2% MAE reduction by sending sparse images to LCDNet instead of MobileCount.
In real deployments with more sparse scenes (indoor, low-traffic), this advantage grows substantially.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Routing Threshold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Post-training sweep — no retraining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3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498079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1188720"/>
            <a:ext cx="411480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Threshold Sweep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645920"/>
            <a:ext cx="2560320" cy="426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999" y="169164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599" y="1645920"/>
            <a:ext cx="1371600" cy="426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19" y="169164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MAE↓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072640"/>
            <a:ext cx="256032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999" y="211836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p* = 0.50 (default)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599" y="2072640"/>
            <a:ext cx="137160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19" y="211836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182.45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499360"/>
            <a:ext cx="256032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999" y="254508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p* = 0.70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599" y="2499360"/>
            <a:ext cx="137160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19" y="254508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181.58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926080"/>
            <a:ext cx="256032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999" y="297180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p* = 0.75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599" y="2926080"/>
            <a:ext cx="137160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19" y="297180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180.93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352800"/>
            <a:ext cx="256032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999" y="339852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★ p* = 0.85 (BEST)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599" y="3352800"/>
            <a:ext cx="137160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19" y="339852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180.92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779520"/>
            <a:ext cx="256032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999" y="3825240"/>
            <a:ext cx="246888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p* = 0.90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599" y="3779520"/>
            <a:ext cx="1371600" cy="426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19" y="3825240"/>
            <a:ext cx="128016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185.05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343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Key Observations: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754880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Stable zone p* ∈ [0.70, 0.85]: MAE varies &lt; 1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175504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p* = 0.85: route to MC only if ≥85% confident dense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596128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Gain: −1.5 MAE vs default argmax (p*=0.50)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6016752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Zero cost: no retraining, no model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Isolating each design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4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188720"/>
            <a:ext cx="466344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What Each Component Contributes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91640"/>
            <a:ext cx="11430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916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+17.8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1691640"/>
            <a:ext cx="3246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73736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Routing is dominant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488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Remove router → MAE 198.7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788920"/>
            <a:ext cx="11430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78892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+2.1 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2788920"/>
            <a:ext cx="3246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834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KD is 2nd contributor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461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Replace distilled → baseline MC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886200"/>
            <a:ext cx="11430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88620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+1.5 MAE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3886200"/>
            <a:ext cx="3246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9319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Threshold tuning is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43434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Use default p*=0.50 instead of 0.85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983480"/>
            <a:ext cx="11430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498348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+1.7 MAE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4983480"/>
            <a:ext cx="3246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0292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 fusion: no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5440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Excluded from final system</a:t>
            </a:r>
          </a:p>
        </p:txBody>
      </p:sp>
      <p:pic>
        <p:nvPicPr>
          <p:cNvPr id="29" name="Picture 28" descr="figure_5_22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983480"/>
            <a:ext cx="71323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Router Performance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Accuracy · ECE ·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1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5120640"/>
          </a:xfrm>
          <a:prstGeom prst="rect">
            <a:avLst/>
          </a:prstGeom>
        </p:spPr>
      </p:pic>
      <p:pic>
        <p:nvPicPr>
          <p:cNvPr id="7" name="Picture 6" descr="figure_5_6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88720"/>
            <a:ext cx="6675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Error Distribution &amp; Failure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Understanding where and why the system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7_error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pic>
        <p:nvPicPr>
          <p:cNvPr id="7" name="Picture 6" descr="figure_5_9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88720"/>
            <a:ext cx="493776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754880"/>
            <a:ext cx="1170432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Representative Failure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166360"/>
            <a:ext cx="9144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5212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5166360"/>
            <a:ext cx="11887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GT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5166360"/>
            <a:ext cx="1371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5212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Predicted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5166360"/>
            <a:ext cx="8229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521208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Root Cause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32120"/>
            <a:ext cx="9144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577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3234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5532120"/>
            <a:ext cx="11887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12,924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532120"/>
            <a:ext cx="1371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5577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 (LCDNet)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5532120"/>
            <a:ext cx="8229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557784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Router 99% confident SPARSE — catastrophic miss (~25 MAE impact)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97880"/>
            <a:ext cx="9144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943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3408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5897880"/>
            <a:ext cx="11887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943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9,728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97880"/>
            <a:ext cx="1371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2,428 (MC)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5897880"/>
            <a:ext cx="8229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594360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Both specialists saturate — capacity limit, not routing 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63640"/>
            <a:ext cx="9144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309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3353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6263640"/>
            <a:ext cx="11887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7,122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6263640"/>
            <a:ext cx="1371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6309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2,077 (MC)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6263640"/>
            <a:ext cx="8229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60" y="630936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Same — density beyond sub-1M model capacity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Cross-Dataset 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Zero-shot evaluation — no fine-tuning on ShanghaiTech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8_cros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33856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120640"/>
            <a:ext cx="557784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ShanghaiTech Part B (sparse-dominated)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321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LCDNet: 74.1  ·  MobileCount: 41.7  ·  Hybrid: 35.2  ·  Oracle: 29.3
→ Hybrid beats both standalone models — routing generalises to unseen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5120640"/>
            <a:ext cx="5989320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516636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ShanghaiTech Part A (dense-dominated)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532120"/>
            <a:ext cx="5806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LCDNet: 340.2  ·  MobileCount: 132.3  ·  Hybrid: 133.1  ·  Oracle: 125.7
→ Hybrid ≈ MobileCount (95.1% of images routed to MC) — expected tie on dense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Edge-Deployment Efficiency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Parameters · GFLOPs · GPU + CPU latency ·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pic>
        <p:nvPicPr>
          <p:cNvPr id="6" name="Picture 5" descr="figure_5_5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188720"/>
            <a:ext cx="12344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2344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188720"/>
            <a:ext cx="86868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Params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188720"/>
            <a:ext cx="82296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2344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GFLOPs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188720"/>
            <a:ext cx="7315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20" y="1234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GPU (ms)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1188720"/>
            <a:ext cx="7772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5640" y="1234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CPU (ms)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67160" y="1188720"/>
            <a:ext cx="13716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0" y="1234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GPU Mem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874520"/>
            <a:ext cx="12344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20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874520"/>
            <a:ext cx="868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2.552M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874520"/>
            <a:ext cx="8229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9202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874520"/>
            <a:ext cx="7315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1874520"/>
            <a:ext cx="777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19202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67160" y="1874520"/>
            <a:ext cx="13716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52.6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560320"/>
            <a:ext cx="12344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6060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LCDNet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560320"/>
            <a:ext cx="868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6060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0.917M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560320"/>
            <a:ext cx="8229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14.59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560320"/>
            <a:ext cx="7315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23.1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9920" y="2560320"/>
            <a:ext cx="777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35640" y="26060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208.8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567160" y="2560320"/>
            <a:ext cx="13716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0" y="26060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368.8 MB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246120"/>
            <a:ext cx="12344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2918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MobileCount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246120"/>
            <a:ext cx="868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0.884M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3246120"/>
            <a:ext cx="8229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32918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3246120"/>
            <a:ext cx="7315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04120" y="32918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89920" y="3246120"/>
            <a:ext cx="777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35640" y="32918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13.5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567160" y="3246120"/>
            <a:ext cx="13716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12880" y="32918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63.6 MB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3931920"/>
            <a:ext cx="12344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39776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6760" y="3931920"/>
            <a:ext cx="868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39776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4.354M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3931920"/>
            <a:ext cx="8229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81160" y="39776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3931920"/>
            <a:ext cx="7315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977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~55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89920" y="3931920"/>
            <a:ext cx="777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35640" y="39776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~210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567160" y="3931920"/>
            <a:ext cx="13716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12880" y="39776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4617720"/>
            <a:ext cx="12344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78040" y="46634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CSRNet†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4617720"/>
            <a:ext cx="868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46634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16.26M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4617720"/>
            <a:ext cx="82296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46634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0" y="4617720"/>
            <a:ext cx="7315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04120" y="4663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20" y="4617720"/>
            <a:ext cx="7772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35640" y="4663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67160" y="4617720"/>
            <a:ext cx="13716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612880" y="4663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not deployed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394960"/>
            <a:ext cx="1170432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440680"/>
            <a:ext cx="11521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† CSRNet used as training-time teacher only
vs CSRNet deployed: 4.35M vs 16.26M = 73.3% parameter reduction
Dense path: Router + MobileCount = ~8ms GPU  ·  Sparse path: Router + LCDNet = ~28ms GPU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Published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NWPU-Crowd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19456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645920"/>
            <a:ext cx="64008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6916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45920"/>
            <a:ext cx="100584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6916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MAE↓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20"/>
            <a:ext cx="1828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6916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555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012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Dataset paper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2555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3012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2555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3012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218.0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255520"/>
            <a:ext cx="18288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3012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651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108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CSRNet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8651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9108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8651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29108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865120"/>
            <a:ext cx="18288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9108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16.26M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747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5204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MobileCount (baseline)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4747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5204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4747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35204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213.2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474720"/>
            <a:ext cx="18288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35204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843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1300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MobileCount (distilled)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40843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1300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0843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4680" y="41300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198.7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084320"/>
            <a:ext cx="18288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41300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939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396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★ Hybrid (ours)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6939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7396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46939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47396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180.9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4693920"/>
            <a:ext cx="182880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0520" y="4739640"/>
            <a:ext cx="173736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1234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ShanghaiTech Part A (zero-shot)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1645920"/>
            <a:ext cx="201168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16916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1645920"/>
            <a:ext cx="64008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80" y="16916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Year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1645920"/>
            <a:ext cx="100584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16916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MAE↓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1645920"/>
            <a:ext cx="219456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800" y="16916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Params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2255520"/>
            <a:ext cx="20116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23012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MCNN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22555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80" y="23012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22555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23960" y="23012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110.2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22555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23012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2865120"/>
            <a:ext cx="20116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72200" y="29108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CSRNet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28651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29108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28651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23960" y="29108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68.2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28651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9800" y="29108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16.3M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3474720"/>
            <a:ext cx="20116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72200" y="35204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SANet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38160" y="34747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83880" y="35204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2018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778240" y="34747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23960" y="35204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67.0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84080" y="34747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29800" y="35204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~10M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4084320"/>
            <a:ext cx="20116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72200" y="41300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40843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83880" y="41300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78240" y="40843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23960" y="41300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62.3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84080" y="40843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829800" y="41300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~5M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4693920"/>
            <a:ext cx="20116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72200" y="4739640"/>
            <a:ext cx="19202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★ Hybrid (ours)*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4693920"/>
            <a:ext cx="64008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83880" y="4739640"/>
            <a:ext cx="548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778240" y="4693920"/>
            <a:ext cx="100584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23960" y="4739640"/>
            <a:ext cx="914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133.1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84080" y="4693920"/>
            <a:ext cx="2194560" cy="609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29800" y="4739640"/>
            <a:ext cx="21031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4.35M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5486400"/>
            <a:ext cx="11704320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5532120"/>
            <a:ext cx="11521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* Not optimised for ShanghaiTech — trained on NWPU-Crowd, evaluated zero-shot.
  MAE gap vs dedicated methods = domain shift penalty, not an accuracy failure.
  Key contribution: 4.35M params vs 5–16M for published methods with full ShanghaiTech training.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Key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3716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Hybrid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691640"/>
            <a:ext cx="539496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828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MAE 180.9 · beats both specialists · outperforms NWPU baseline (218.0)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13716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Edge-Deployable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560320"/>
            <a:ext cx="539496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697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4.35M params · 73.3% smaller than CSRNet · ~55ms/image RTX 3050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13716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Knowledge Distillation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429000"/>
            <a:ext cx="539496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566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−14.5 MAE on MobileCount at zero deployment cost · 18.4× smaller than teacher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80"/>
            <a:ext cx="13716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29768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Cross-Dataset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297680"/>
            <a:ext cx="539496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4434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ShanghaiTech Part B MAE 35.2 without fine-tuning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66360"/>
            <a:ext cx="13716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16636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Sparse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5166360"/>
            <a:ext cx="539496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53035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60.2% MAE reduction on sparse scenes via LCDNet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691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Physical Jetson Nano benchmarking + power 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5059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INT8 quantization / TensorRT for further 2–4× speedup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09544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Confidence-aware fallback to prevent catastrophic misroutes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968496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Higher-capacity 3rd path for extreme density (&gt;3,000)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7274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Federated learning for privacy-preserving model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4864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Temporal smoothing for video stream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26480"/>
            <a:ext cx="11704320" cy="594360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144768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"A 4.35M-parameter system that beats models 4× its size — through smart, learned routing."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32004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MAE 180.9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Best System Result
(NWPU-Crowd val, 500 images)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3017520"/>
            <a:ext cx="32004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4.35M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Total Deployed
(73.3% smaller than CSRNet)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17520"/>
            <a:ext cx="32004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3108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−60.2%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4160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Sparse Routing Gain
(84.5 → 33.6 MAE)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GitHub: Crowd-Desnsity-Hybrid-Model  ·  NWPU-Crowd + ShanghaiTech Part A &amp;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