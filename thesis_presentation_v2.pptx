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22960"/>
            <a:ext cx="11521440" cy="384048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Hybrid Crowd Density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373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F9CF9"/>
                </a:solidFill>
              </a:rPr>
              <a:t>for Edge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231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LCDNet + MobileCount + MobileNetV2 Router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926080"/>
            <a:ext cx="7589520" cy="36576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3474720" cy="12344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</a:rPr>
              <a:t>4.35M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Total Deployed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3108960"/>
            <a:ext cx="3474720" cy="12344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</a:rPr>
              <a:t>MAE 180.9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Best System (NWPU val)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108960"/>
            <a:ext cx="3474720" cy="12344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</a:rPr>
              <a:t>~55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Avg Latency (RTX 3050)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177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NWPU-Crowd · ShanghaiTech Part A &amp; B · PyTorch 2.6 · RTX 3050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029200"/>
            <a:ext cx="8503920" cy="1371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Group Thesis Presentation · 5-Member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5778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Why does crowd estimation need a hybrid approach?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3566160" cy="5303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143000"/>
            <a:ext cx="3346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27048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Crowd incidents cause fatalities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28800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Manual counting: slow, error-prone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Cloud systems: latency + privacy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432304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GDPR: raw video = personal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734056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Edge hardware: 5–10W power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051560"/>
            <a:ext cx="3566160" cy="53035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8" y="1143000"/>
            <a:ext cx="3346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Single-Model Dilemma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527048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Heavy models accurate on dense scenes but need 16M+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828800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Lightweight models fast but fail on dense crowds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2130552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NWPU counts range: 0 – 20,033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432304"/>
            <a:ext cx="33467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No single lightweight model handles both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051560"/>
            <a:ext cx="4069080" cy="530352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143000"/>
            <a:ext cx="3849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1527048"/>
            <a:ext cx="3849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BB78"/>
                </a:solidFill>
              </a:rPr>
              <a:t>• Router dispatches each image to best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828800"/>
            <a:ext cx="3849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BB78"/>
                </a:solidFill>
              </a:rPr>
              <a:t>• LCDNet: sparse scenes (≤100 people)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130552"/>
            <a:ext cx="3849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BB78"/>
                </a:solidFill>
              </a:rPr>
              <a:t>• MobileCount: dense scenes (&gt;100)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432304"/>
            <a:ext cx="3849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BB78"/>
                </a:solidFill>
              </a:rPr>
              <a:t>• 4.35M params · 55ms · on-device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02920" cy="7498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527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A3A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051560"/>
            <a:ext cx="11018520" cy="74980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Build a fully lightweight hybrid pipeline (≤5M params) for edge crowd density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56232"/>
            <a:ext cx="502920" cy="7498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A3A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56232"/>
            <a:ext cx="11018520" cy="74980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391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Train and domain-adapt specialists: LCDNet for sparse, distilled MobileCount for dense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60904"/>
            <a:ext cx="502920" cy="7498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620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A3A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660904"/>
            <a:ext cx="11018520" cy="74980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8437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Design a MobileNetV2 router that automatically routes images without human intervention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65576"/>
            <a:ext cx="502920" cy="7498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6667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A3A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465576"/>
            <a:ext cx="11018520" cy="74980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48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Apply knowledge distillation (CSRNet teacher → MobileCount student) for free accuracy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70248"/>
            <a:ext cx="502920" cy="7498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7141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A3A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270248"/>
            <a:ext cx="11018520" cy="74980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453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Evaluate on NWPU-Crowd validation (500 images) — zero-shot on ShanghaiTech A &amp;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74920"/>
            <a:ext cx="502920" cy="74980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2760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A3A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074920"/>
            <a:ext cx="11018520" cy="74980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257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Quantify accuracy-efficiency trade-off: oracle, ablation, calibration, threshold analyses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NWPU-Crowd: primary · ShanghaiTech A &amp; B: zero-shot evaluation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3703320" cy="521208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03320" cy="36576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A"/>
                </a:solidFill>
              </a:rPr>
              <a:t>PRIMARY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NWPU-Crowd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659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5,109 total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2,133,375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375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Count: 0 – 20,033 per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0233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Train 3,109 · Val 500 · Test 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7091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Threshold T=100 for routing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51560"/>
            <a:ext cx="3703320" cy="521208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051560"/>
            <a:ext cx="3703320" cy="3657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051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A"/>
                </a:solidFill>
              </a:rPr>
              <a:t>CROSS-DATASET (EVAL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5087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ShanghaiTech Part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9659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182 test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6517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241,677 head annotations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3375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Count range: 33 – 3,139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0233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Predominantly dense urban scenes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709160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Never used in 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051560"/>
            <a:ext cx="3794760" cy="521208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051560"/>
            <a:ext cx="3794760" cy="3657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0515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A"/>
                </a:solidFill>
              </a:rPr>
              <a:t>CROSS-DATASET (EVAL ONLY)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5087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ShanghaiTech Part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196596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316 test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265176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88,488 head annotations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333756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Count range: 9 – 578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402336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Predominantly sparse street scenes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470916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• Never used in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End-to-end hybrid inference pipeline — all inference on-device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45920"/>
            <a:ext cx="2194560" cy="32004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2194560"/>
            <a:ext cx="20482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INPUT
IMAGE
384×384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1645920"/>
            <a:ext cx="2194560" cy="3200400"/>
          </a:xfrm>
          <a:prstGeom prst="rect">
            <a:avLst/>
          </a:prstGeom>
          <a:solidFill>
            <a:srgbClr val="3B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0904" y="2194560"/>
            <a:ext cx="20482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MobileNetV2
ROUTER
2.55M params
4.8ms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4855464" y="1645920"/>
            <a:ext cx="2194560" cy="320040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8616" y="2194560"/>
            <a:ext cx="20482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8BB78"/>
                </a:solidFill>
              </a:rPr>
              <a:t>LCDNet
SPARSE
0.92M
23ms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23176" y="1645920"/>
            <a:ext cx="2194560" cy="3200400"/>
          </a:xfrm>
          <a:prstGeom prst="rect">
            <a:avLst/>
          </a:prstGeom>
          <a:solidFill>
            <a:srgbClr val="4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2194560"/>
            <a:ext cx="20482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6AD55"/>
                </a:solidFill>
              </a:rPr>
              <a:t>MobileCount
DEPLOYED
0.88M
3.4ms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0888" y="1645920"/>
            <a:ext cx="2194560" cy="32004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194560"/>
            <a:ext cx="20482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9CF9"/>
                </a:solidFill>
              </a:rPr>
              <a:t>DENSITY
MAP
→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651760"/>
            <a:ext cx="73152" cy="457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2312" y="2651760"/>
            <a:ext cx="73152" cy="457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50024" y="2651760"/>
            <a:ext cx="73152" cy="457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17736" y="2651760"/>
            <a:ext cx="73152" cy="45720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87752" y="4983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P(dense) ≥ 0.85 → 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752" y="5303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P(dense) &lt; 0.85 → LCD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0292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Total: 4.35M params · 73.3% smaller than CSRNet · Dense path ~8ms · Sparse path ~28ms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77840"/>
            <a:ext cx="11521440" cy="7772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7150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C8181"/>
                </a:solidFill>
              </a:rPr>
              <a:t>CSRNet (16.26M params) — KD teacher during training ONLY — never deployed at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Adaptive Gaussian density map generation from head point annotations</a:t>
            </a:r>
          </a:p>
        </p:txBody>
      </p:sp>
      <p:pic>
        <p:nvPicPr>
          <p:cNvPr id="5" name="Picture 4" descr="figure_4_2_densit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480560"/>
            <a:ext cx="5669280" cy="19659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4572000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Density Map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4937760"/>
            <a:ext cx="5449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σᵢ = β · d̄ᵢ   (β = 0.3, k = 3 neighbours)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5321808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d̄ᵢ = mean dist to 3 nearest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5623560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Mass conservation: ∬D = N (head count)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5925312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Fallback σ = 15px for single 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6227064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σ clipped to [4.0, 30.0] pixels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480560"/>
            <a:ext cx="5669280" cy="19659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72000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Data 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4937760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Horizontal flip (p=0.5)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5239512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Random 384×384 crop from 512×512 (p=0.3)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5541264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Brightness/contrast ±20%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5843016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Applied to image AND density map equally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6144768"/>
            <a:ext cx="5449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ImageNet normalisation: mean [0.485, 0.456, 0.406]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LCDNet — Sparse Scene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Depthwise-separable encoder-decoder · Full-resolution output · 0.917M parameters</a:t>
            </a:r>
          </a:p>
        </p:txBody>
      </p:sp>
      <p:pic>
        <p:nvPicPr>
          <p:cNvPr id="5" name="Picture 4" descr="figure_4_4_lcd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85800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051560"/>
            <a:ext cx="4800600" cy="34747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0648" y="1143000"/>
            <a:ext cx="4581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Architecture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470648" y="1508760"/>
            <a:ext cx="1600200" cy="38404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563624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0848" y="1508760"/>
            <a:ext cx="1600200" cy="38404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563624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71048" y="1508760"/>
            <a:ext cx="1463040" cy="38404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25912" y="1563624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0648" y="1892808"/>
            <a:ext cx="160020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938528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Encoder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0848" y="1892808"/>
            <a:ext cx="160020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1938528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192×192×64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71048" y="1892808"/>
            <a:ext cx="146304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5912" y="1938528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~3.5K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0648" y="2276856"/>
            <a:ext cx="1600200" cy="38404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2322576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Encoder 2-4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2276856"/>
            <a:ext cx="1600200" cy="38404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2322576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71048" y="2276856"/>
            <a:ext cx="1463040" cy="38404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5912" y="2322576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~347K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0648" y="2660904"/>
            <a:ext cx="160020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2706624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Decoder 1-3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0848" y="2660904"/>
            <a:ext cx="160020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2706624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71048" y="2660904"/>
            <a:ext cx="146304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5912" y="2706624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~520K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0648" y="3044952"/>
            <a:ext cx="1600200" cy="38404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2" y="3090672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Output Head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70848" y="3044952"/>
            <a:ext cx="1600200" cy="38404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3090672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384×384×1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71048" y="3044952"/>
            <a:ext cx="1463040" cy="38404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5912" y="3090672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~18.5K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0648" y="3429000"/>
            <a:ext cx="160020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474720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0848" y="3429000"/>
            <a:ext cx="160020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5712" y="3474720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10671048" y="3429000"/>
            <a:ext cx="1463040" cy="38404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5912" y="3474720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0.917M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663440"/>
            <a:ext cx="11521440" cy="1737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754880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Key Design Choices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1206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~8× fewer params via depthwise separable convolutions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42239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Skip connections preserve fine spatial details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1206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Full resolution output — better accuracy than 1/8 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42239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Domain-adapted on NWPU sparse → sparse MAE: 273 → 21.5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MobileCount +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Dense specialist with CSRNet teacher (training only) · 0.884M deployed</a:t>
            </a:r>
          </a:p>
        </p:txBody>
      </p:sp>
      <p:pic>
        <p:nvPicPr>
          <p:cNvPr id="5" name="Picture 4" descr="figure_4_3_disti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8580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051560"/>
            <a:ext cx="4800600" cy="3657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0648" y="1143000"/>
            <a:ext cx="4581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Distillation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70648" y="1508760"/>
            <a:ext cx="1417320" cy="43891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563624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87968" y="1508760"/>
            <a:ext cx="1600200" cy="43891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1563624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88168" y="1508760"/>
            <a:ext cx="1737360" cy="438912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3032" y="156362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Distilled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0648" y="1947672"/>
            <a:ext cx="141732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993392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947672"/>
            <a:ext cx="160020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1993392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213.2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88168" y="1947672"/>
            <a:ext cx="173736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43032" y="199339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8BB78"/>
                </a:solidFill>
              </a:rPr>
              <a:t>198.7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0648" y="2386584"/>
            <a:ext cx="1417320" cy="438912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2432304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RMSE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87968" y="2386584"/>
            <a:ext cx="1600200" cy="438912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2432304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803.6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88168" y="2386584"/>
            <a:ext cx="1737360" cy="438912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3032" y="243230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778.5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0648" y="2825496"/>
            <a:ext cx="141732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2871216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Params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2825496"/>
            <a:ext cx="160020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871216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0.884M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88168" y="2825496"/>
            <a:ext cx="173736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2871216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0.884M (same)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0648" y="3264408"/>
            <a:ext cx="1417320" cy="438912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2" y="3310128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GFLOPs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3264408"/>
            <a:ext cx="1600200" cy="438912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3310128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1.07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88168" y="3264408"/>
            <a:ext cx="1737360" cy="438912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43032" y="331012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1.07 (same)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0648" y="3703320"/>
            <a:ext cx="141732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749040"/>
            <a:ext cx="1307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GPU (ms)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7968" y="3703320"/>
            <a:ext cx="160020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42832" y="374904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88168" y="3703320"/>
            <a:ext cx="1737360" cy="43891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3032" y="374904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3.4 (same)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800600"/>
            <a:ext cx="11521440" cy="16002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92040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Loss: L = 0.5·MSE(student,GT) + 0.5·MSE(student,teacher) + 0.05·L1(count)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40680"/>
            <a:ext cx="6720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12 epochs · AdamW lr=5×10⁻⁵ · Best at epoch 9 · ~4hrs RTX 3050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89204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8BB78"/>
                </a:solidFill>
              </a:rPr>
              <a:t>−14.5 MAE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48640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at ZERO deployment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Knowledge Distillation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Per-epoch validation MAE · NWPU-Crowd full validation set (500 images)</a:t>
            </a:r>
          </a:p>
        </p:txBody>
      </p:sp>
      <p:pic>
        <p:nvPicPr>
          <p:cNvPr id="5" name="Picture 4" descr="figure_5_20_k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Routing Classifier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MobileNetV2 binary classifier · routing threshold T = 100</a:t>
            </a:r>
          </a:p>
        </p:txBody>
      </p:sp>
      <p:pic>
        <p:nvPicPr>
          <p:cNvPr id="5" name="Picture 4" descr="figure_4_8_router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498079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051560"/>
            <a:ext cx="3886200" cy="4800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7" y="1143000"/>
            <a:ext cx="3666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Final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0727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88.80%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20208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ECE (calibration)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208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0.095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532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5328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2.552M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3044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GFLOPs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0449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0.33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5570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GPU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5570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4.8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CPU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4069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8.9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45811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Best epoch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5811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10 / 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5093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Train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50932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2E8F0"/>
                </a:solidFill>
              </a:rPr>
              <a:t>85.6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Primary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NWPU-Crowd Validation · 500 images · all checkpoints evaluated on RTX 3050</a:t>
            </a:r>
          </a:p>
        </p:txBody>
      </p:sp>
      <p:pic>
        <p:nvPicPr>
          <p:cNvPr id="5" name="Picture 4" descr="figure_5_1_syste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85800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051560"/>
            <a:ext cx="196596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70064" y="1106424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60" y="1051560"/>
            <a:ext cx="77724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6024" y="1106424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051560"/>
            <a:ext cx="91440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13264" y="110642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1051560"/>
            <a:ext cx="118872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27664" y="1106424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27048"/>
            <a:ext cx="19659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572768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LCDNet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527048"/>
            <a:ext cx="77724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1572768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348.0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527048"/>
            <a:ext cx="91440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13264" y="157276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1034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0" y="1527048"/>
            <a:ext cx="118872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27664" y="1572768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0.92M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002536"/>
            <a:ext cx="196596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2048256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MC (baseline)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02536"/>
            <a:ext cx="77724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048256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213.2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2002536"/>
            <a:ext cx="91440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3264" y="2048256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803.6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0" y="2002536"/>
            <a:ext cx="118872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27664" y="2048256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478024"/>
            <a:ext cx="19659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0064" y="2523744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MC (distilled)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2478024"/>
            <a:ext cx="77724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2523744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198.7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2478024"/>
            <a:ext cx="91440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3264" y="252374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778.5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0" y="2478024"/>
            <a:ext cx="118872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27664" y="2523744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953512"/>
            <a:ext cx="196596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0064" y="2999232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Hybrid-Hard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2953512"/>
            <a:ext cx="77724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36024" y="2999232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2953512"/>
            <a:ext cx="91440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3264" y="2999232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787.7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0" y="2953512"/>
            <a:ext cx="118872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27664" y="2999232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4.35M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429000"/>
            <a:ext cx="19659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0064" y="3474720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Hybrid-Soft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3429000"/>
            <a:ext cx="77724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36024" y="3474720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0" y="3429000"/>
            <a:ext cx="91440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3264" y="3474720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763.8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0" y="3429000"/>
            <a:ext cx="118872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27664" y="3474720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4.35M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3904488"/>
            <a:ext cx="1965960" cy="475488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3950208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9CF9"/>
                </a:solidFill>
              </a:rPr>
              <a:t>★ BEST (dist,p*=.85)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60" y="3904488"/>
            <a:ext cx="777240" cy="475488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36024" y="3950208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180.9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3904488"/>
            <a:ext cx="914400" cy="475488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13264" y="395020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763.6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72800" y="3904488"/>
            <a:ext cx="1188720" cy="475488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27664" y="3950208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4.35M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4379976"/>
            <a:ext cx="19659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0064" y="4425696"/>
            <a:ext cx="1856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Oracle UB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81160" y="4379976"/>
            <a:ext cx="77724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36024" y="4425696"/>
            <a:ext cx="667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166.6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4379976"/>
            <a:ext cx="91440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13264" y="4425696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751.1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0" y="4379976"/>
            <a:ext cx="118872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27664" y="4425696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4937760"/>
            <a:ext cx="11521440" cy="15087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029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Hybrid beats both standalone specialists: 180.9 vs 198.7 (MC) and 348.0 (LCDNet)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376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Outperforms NWPU-Crowd paper baseline (MAE 218.0) by 37.1 MAE points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724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Gap to oracle (166.6) = 14.3 MAE = cost of ~11% router misclassification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Density-Stratified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Performance breakdown by crowd density level</a:t>
            </a:r>
          </a:p>
        </p:txBody>
      </p:sp>
      <p:pic>
        <p:nvPicPr>
          <p:cNvPr id="5" name="Picture 4" descr="figure_5_2_stratified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8580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051560"/>
            <a:ext cx="4846320" cy="11887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7" y="1124712"/>
            <a:ext cx="4626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SPARSE ≤100 · n=181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7" y="1508760"/>
            <a:ext cx="4626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BB78"/>
                </a:solidFill>
              </a:rPr>
              <a:t>MobileCount: 84.5 → Hybrid: 33.6 → −60.2%!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331720"/>
            <a:ext cx="4846320" cy="11887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2404872"/>
            <a:ext cx="4626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MEDIUM 100–500 · n=229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7" y="2788920"/>
            <a:ext cx="4626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MC: 98.4 → Hybrid: 99.5 → routing neutral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611880"/>
            <a:ext cx="4846320" cy="1188720"/>
          </a:xfrm>
          <a:prstGeom prst="rect">
            <a:avLst/>
          </a:prstGeom>
          <a:solidFill>
            <a:srgbClr val="3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3685032"/>
            <a:ext cx="46268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DENSE &gt;500 · n=90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4069080"/>
            <a:ext cx="4626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8181"/>
                </a:solidFill>
              </a:rPr>
              <a:t>MC: 683.6 → Hybrid: 692.8 → both saturate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074920"/>
            <a:ext cx="11521440" cy="1371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Routing's primary benefit is the sparse stratum: 60.2% MAE reduction.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In deployments where sparse scenes dominate (indoor, low-traffic), the advantage grows substantially.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795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Extreme density (&gt;3,000): both models saturate — fundamental capacity limit, not a routing issue.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Routing Threshold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Post-training calibration · no retraining required · free performance gain</a:t>
            </a:r>
          </a:p>
        </p:txBody>
      </p:sp>
      <p:pic>
        <p:nvPicPr>
          <p:cNvPr id="5" name="Picture 4" descr="figure_5_3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22376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26679" y="1051560"/>
            <a:ext cx="4160520" cy="3931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8" y="1143000"/>
            <a:ext cx="39410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Sweep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6408" y="1508760"/>
            <a:ext cx="265176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2" y="156362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p*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88168" y="1508760"/>
            <a:ext cx="150876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3032" y="1563624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8" y="2057400"/>
            <a:ext cx="26517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210312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p* = 0.50 (default)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88168" y="2057400"/>
            <a:ext cx="15087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2103120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182.45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6408" y="2606040"/>
            <a:ext cx="265176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265176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p* = 0.70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88168" y="2606040"/>
            <a:ext cx="150876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43032" y="2651760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181.58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36408" y="3154680"/>
            <a:ext cx="26517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320040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p* = 0.75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88168" y="3154680"/>
            <a:ext cx="15087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43032" y="3200400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180.93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6408" y="3703320"/>
            <a:ext cx="265176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2" y="374904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9CF9"/>
                </a:solidFill>
              </a:rPr>
              <a:t>★ p* = 0.85 (BEST)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88168" y="3703320"/>
            <a:ext cx="150876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3749040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180.92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6408" y="4251960"/>
            <a:ext cx="26517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1272" y="4297680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p* = 0.90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88168" y="4251960"/>
            <a:ext cx="15087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4297680"/>
            <a:ext cx="1399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185.05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074920"/>
            <a:ext cx="11521440" cy="137160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Stable zone p* ∈ [0.70, 0.85]: MAE varies &lt; 1 point — robust to threshold choice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13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p* = 0.85 routes to MobileCount only when router is ≥85% confident the scene is dense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613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• Best gain: −1.5 MAE vs default argmax (p*=0.50) with zero retraining cost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Isolating the contribution of each design decision</a:t>
            </a:r>
          </a:p>
        </p:txBody>
      </p:sp>
      <p:pic>
        <p:nvPicPr>
          <p:cNvPr id="5" name="Picture 4" descr="figure_5_4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8580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051560"/>
            <a:ext cx="4846320" cy="713232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7" y="1161288"/>
            <a:ext cx="4626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+17.8 MAE if remove routing → Routing is the DOMINANT contributor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01368"/>
            <a:ext cx="4846320" cy="7132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911096"/>
            <a:ext cx="4626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+2.1 MAE if remove KD → Distillation: free accuracy gain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551176"/>
            <a:ext cx="4846320" cy="713232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2660904"/>
            <a:ext cx="4626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+1.5 MAE if skip threshold sweep → Calibration: zero-cost 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300984"/>
            <a:ext cx="4846320" cy="713232"/>
          </a:xfrm>
          <a:prstGeom prst="rect">
            <a:avLst/>
          </a:prstGeom>
          <a:solidFill>
            <a:srgbClr val="4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3410712"/>
            <a:ext cx="4626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+1.7 MAE with soft fusion → Soft fusion excluded: no benefit</a:t>
            </a:r>
          </a:p>
        </p:txBody>
      </p:sp>
      <p:pic>
        <p:nvPicPr>
          <p:cNvPr id="14" name="Picture 13" descr="figure_5_22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43400"/>
            <a:ext cx="115214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Router Performance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Accuracy · ECE · Confusion Matrix · Confidence Distribution</a:t>
            </a:r>
          </a:p>
        </p:txBody>
      </p:sp>
      <p:pic>
        <p:nvPicPr>
          <p:cNvPr id="5" name="Picture 4" descr="figure_5_1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303520" cy="5394960"/>
          </a:xfrm>
          <a:prstGeom prst="rect">
            <a:avLst/>
          </a:prstGeom>
        </p:spPr>
      </p:pic>
      <p:pic>
        <p:nvPicPr>
          <p:cNvPr id="6" name="Picture 5" descr="figure_5_6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51560"/>
            <a:ext cx="6309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Error Distribution &amp; Failure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Understanding the heavy tail and catastrophic misroutes</a:t>
            </a:r>
          </a:p>
        </p:txBody>
      </p:sp>
      <p:pic>
        <p:nvPicPr>
          <p:cNvPr id="5" name="Picture 4" descr="figure_5_7_error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675120" cy="3474720"/>
          </a:xfrm>
          <a:prstGeom prst="rect">
            <a:avLst/>
          </a:prstGeom>
        </p:spPr>
      </p:pic>
      <p:pic>
        <p:nvPicPr>
          <p:cNvPr id="6" name="Picture 5" descr="figure_5_9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51560"/>
            <a:ext cx="50292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4663440"/>
            <a:ext cx="91440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471830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4663440"/>
            <a:ext cx="118872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4718304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GT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4663440"/>
            <a:ext cx="128016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4718304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Predicted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4663440"/>
            <a:ext cx="8138160" cy="47548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4718304"/>
            <a:ext cx="8028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Root Cause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138928"/>
            <a:ext cx="91440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518464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3234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5138928"/>
            <a:ext cx="118872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5184648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12,924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5138928"/>
            <a:ext cx="12801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8024" y="5184648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10 (LCDNet)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5138928"/>
            <a:ext cx="81381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5184648"/>
            <a:ext cx="8028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Router 99% confident sparse — catastrophic miss (~25 MAE impact)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14416"/>
            <a:ext cx="91440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5660136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3408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5614416"/>
            <a:ext cx="118872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9304" y="5660136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9,728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5614416"/>
            <a:ext cx="128016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78024" y="5660136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2,428 (MC)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5614416"/>
            <a:ext cx="8138160" cy="47548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8184" y="5660136"/>
            <a:ext cx="8028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Both specialists saturate — model capacity limit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089904"/>
            <a:ext cx="91440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613562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3353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" y="6089904"/>
            <a:ext cx="118872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9304" y="6135624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7,122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6089904"/>
            <a:ext cx="12801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78024" y="6135624"/>
            <a:ext cx="1170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2,077 (MC)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6089904"/>
            <a:ext cx="8138160" cy="4754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58184" y="6135624"/>
            <a:ext cx="8028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Density beyond 0.88M parameter capacity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Cross-Dataset Zero-Shot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Trained on NWPU-Crowd only · ShanghaiTech never seen during training</a:t>
            </a:r>
          </a:p>
        </p:txBody>
      </p:sp>
      <p:pic>
        <p:nvPicPr>
          <p:cNvPr id="5" name="Picture 4" descr="figure_5_8_cros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983480"/>
            <a:ext cx="5577840" cy="14630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5074920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ShanghaiTech Part B (sparse-dominated, 316 images)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5440680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BB78"/>
                </a:solidFill>
              </a:rPr>
              <a:t>LCDNet: 74.1 · MC: 41.7 · Hybrid: 35.2 ✓ · Oracle: 29.3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5788152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Hybrid beats both standalone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4983480"/>
            <a:ext cx="5760720" cy="14630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5074920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ShanghaiTech Part A (dense-dominated, 182 images)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5440680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6AD55"/>
                </a:solidFill>
              </a:rPr>
              <a:t>LCDNet: 340.2 · MC: 132.3 · Hybrid: 133.1 ≈ tie · Oracle: 125.7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5788152"/>
            <a:ext cx="5541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95.1% routed to MobileCount — expected tie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Edge-Deployment Efficiency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Params · GFLOPs · GPU + CPU latency · vs CSRNet baseline</a:t>
            </a:r>
          </a:p>
        </p:txBody>
      </p:sp>
      <p:pic>
        <p:nvPicPr>
          <p:cNvPr id="5" name="Picture 4" descr="figure_5_5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85800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051560"/>
            <a:ext cx="1463040" cy="5029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70064" y="110642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051560"/>
            <a:ext cx="822960" cy="5029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3104" y="1106424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051560"/>
            <a:ext cx="822960" cy="5029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6064" y="1106424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GFLOPs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1051560"/>
            <a:ext cx="868680" cy="5029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9024" y="1106424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GPU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92840" y="1051560"/>
            <a:ext cx="914400" cy="5029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47704" y="1106424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CPU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554480"/>
            <a:ext cx="146304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160020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Router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554480"/>
            <a:ext cx="82296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160020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2.552M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554480"/>
            <a:ext cx="82296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160020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1554480"/>
            <a:ext cx="86868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79024" y="1600200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92840" y="1554480"/>
            <a:ext cx="91440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47704" y="1600200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8.9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057400"/>
            <a:ext cx="1463040" cy="50292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210312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LCDNet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057400"/>
            <a:ext cx="822960" cy="50292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21031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0.917M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057400"/>
            <a:ext cx="822960" cy="50292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6064" y="21031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14.59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2057400"/>
            <a:ext cx="868680" cy="50292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79024" y="2103120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23.1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92840" y="2057400"/>
            <a:ext cx="914400" cy="50292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47704" y="2103120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208.8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2560320"/>
            <a:ext cx="146304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260604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MobileCount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2560320"/>
            <a:ext cx="82296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33104" y="26060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0.884M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2560320"/>
            <a:ext cx="82296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4" y="26060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1.07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2560320"/>
            <a:ext cx="86868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79024" y="2606040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3.4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92840" y="2560320"/>
            <a:ext cx="91440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47704" y="2606040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13.5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063240"/>
            <a:ext cx="1463040" cy="5029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0064" y="310896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TOTAL 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3063240"/>
            <a:ext cx="822960" cy="5029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33104" y="31089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4.354M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3063240"/>
            <a:ext cx="822960" cy="5029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56064" y="31089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0" y="3063240"/>
            <a:ext cx="868680" cy="5029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79024" y="3108960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~55 avg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92840" y="3063240"/>
            <a:ext cx="914400" cy="50292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47704" y="3108960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~210 avg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3566160"/>
            <a:ext cx="146304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0064" y="361188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CSRNet†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3566160"/>
            <a:ext cx="82296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33104" y="3611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16.26M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3566160"/>
            <a:ext cx="82296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56064" y="3611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3566160"/>
            <a:ext cx="86868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79024" y="3611880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N/A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92840" y="3566160"/>
            <a:ext cx="914400" cy="5029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347704" y="3611880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N/A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37760"/>
            <a:ext cx="11521440" cy="15087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029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8181"/>
                </a:solidFill>
              </a:rPr>
              <a:t>† CSRNet is training-time teacher only — never deployed · vs CSRNet: 73.3% smaller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394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Dense path: Router + MobileCount ≈ 8ms GPU  ·  Sparse path: Router + LCDNet ≈ 28ms GPU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760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All measurements: NVIDIA RTX 3050 8GB · Jetson Nano deployment = future 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Comparison with Published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NWPU-Crowd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28600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472184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417320"/>
            <a:ext cx="64008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0904" y="1472184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82296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14721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417320"/>
            <a:ext cx="192024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1472184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65960"/>
            <a:ext cx="228600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201168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Dataset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965960"/>
            <a:ext cx="64008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0116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965960"/>
            <a:ext cx="8229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201168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218.0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965960"/>
            <a:ext cx="192024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23944" y="2011680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14600"/>
            <a:ext cx="228600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5603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CSRNet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514600"/>
            <a:ext cx="64008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0904" y="25603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514600"/>
            <a:ext cx="82296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00984" y="256032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~121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2514600"/>
            <a:ext cx="192024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23944" y="2560320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16.26M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63240"/>
            <a:ext cx="228600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10896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MC (baseline)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3063240"/>
            <a:ext cx="64008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60904" y="31089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063240"/>
            <a:ext cx="8229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0984" y="310896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213.2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3063240"/>
            <a:ext cx="192024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23944" y="3108960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611880"/>
            <a:ext cx="228600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65760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MC (distilled)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3611880"/>
            <a:ext cx="64008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60904" y="365760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611880"/>
            <a:ext cx="82296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00984" y="365760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198.7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3611880"/>
            <a:ext cx="192024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23944" y="3657600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0.88M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160520"/>
            <a:ext cx="228600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420624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9CF9"/>
                </a:solidFill>
              </a:rPr>
              <a:t>★ Hybrid (ours)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4160520"/>
            <a:ext cx="64008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0904" y="420624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4160520"/>
            <a:ext cx="82296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00984" y="420624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180.9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4160520"/>
            <a:ext cx="192024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23944" y="4206240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4.35M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1051560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ShanghaiTech Part A (zero-shot)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1417320"/>
            <a:ext cx="201168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27064" y="1472184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Method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80" y="1417320"/>
            <a:ext cx="64008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38744" y="1472184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Year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1417320"/>
            <a:ext cx="82296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78824" y="14721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MAE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46920" y="1417320"/>
            <a:ext cx="2514600" cy="54864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01784" y="1472184"/>
            <a:ext cx="2404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Params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1965960"/>
            <a:ext cx="201168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7064" y="201168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MCNN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83880" y="1965960"/>
            <a:ext cx="64008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38744" y="20116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23960" y="1965960"/>
            <a:ext cx="8229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78824" y="201168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110.2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20" y="1965960"/>
            <a:ext cx="251460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01784" y="2011680"/>
            <a:ext cx="2404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~1M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2514600"/>
            <a:ext cx="201168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27064" y="256032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CSRNet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80" y="2514600"/>
            <a:ext cx="64008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38744" y="25603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23960" y="2514600"/>
            <a:ext cx="82296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78824" y="256032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68.2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46920" y="2514600"/>
            <a:ext cx="251460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1784" y="2560320"/>
            <a:ext cx="2404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16.3M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3063240"/>
            <a:ext cx="201168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27064" y="310896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SANet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83880" y="3063240"/>
            <a:ext cx="64008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8744" y="31089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2018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23960" y="3063240"/>
            <a:ext cx="82296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78824" y="310896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67.0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20" y="3063240"/>
            <a:ext cx="2514600" cy="5486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01784" y="3108960"/>
            <a:ext cx="2404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~10M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3611880"/>
            <a:ext cx="201168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27064" y="365760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CAN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83880" y="3611880"/>
            <a:ext cx="64008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38744" y="365760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823960" y="3611880"/>
            <a:ext cx="82296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78824" y="365760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62.3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46920" y="3611880"/>
            <a:ext cx="2514600" cy="5486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01784" y="3657600"/>
            <a:ext cx="2404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~5M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4160520"/>
            <a:ext cx="201168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27064" y="4206240"/>
            <a:ext cx="1901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9CF9"/>
                </a:solidFill>
              </a:rPr>
              <a:t>★ Hybrid*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83880" y="4160520"/>
            <a:ext cx="64008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38744" y="420624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2024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23960" y="4160520"/>
            <a:ext cx="82296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78824" y="420624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133.1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46920" y="4160520"/>
            <a:ext cx="2514600" cy="548640"/>
          </a:xfrm>
          <a:prstGeom prst="rect">
            <a:avLst/>
          </a:prstGeom>
          <a:solidFill>
            <a:srgbClr val="2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01784" y="4206240"/>
            <a:ext cx="2404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4.35M (zero-shot)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" y="5257800"/>
            <a:ext cx="11521440" cy="11887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6AD55"/>
                </a:solidFill>
              </a:rPr>
              <a:t>* Hybrid trained on NWPU-Crowd only — zero-shot evaluation on ShanghaiTech. MAE gap = domain shift penalty.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7150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Key: 4.35M params vs 5–16M for dedicated methods — competitive efficiency at a fraction of the cost.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828800" cy="65836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Hybrid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051560"/>
            <a:ext cx="9646920" cy="65836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4288" y="120700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MAE 180.9 · beats both standalone specialists · outperforms NWPU baseline (218.0)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46504"/>
            <a:ext cx="1828800" cy="65836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Edge-Deployable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746504"/>
            <a:ext cx="9646920" cy="65836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90195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4.35M params · 73.3% smaller than CSRNet · ~55ms/image on RTX 3050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41448"/>
            <a:ext cx="1828800" cy="65836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5968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Knowledge Distillation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441448"/>
            <a:ext cx="9646920" cy="65836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2596896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CSRNet→MobileCount: −14.5 MAE at zero deployment cost · 18.4× smaller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36392"/>
            <a:ext cx="1828800" cy="65836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91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Cross-Dataset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3136392"/>
            <a:ext cx="9646920" cy="65836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329184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ShanghaiTech Part B: MAE 35.2 zero-shot · generalises without fine-tuning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31336"/>
            <a:ext cx="1828800" cy="658368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9867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A3A"/>
                </a:solidFill>
              </a:rPr>
              <a:t>Sparse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831336"/>
            <a:ext cx="9646920" cy="65836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398678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60.2% MAE reduction on sparse scenes · primary contribution of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434840"/>
            <a:ext cx="11521440" cy="19202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9"/>
                </a:solidFill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1947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Jetson Nano benchmarking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1947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INT8 quantization (2–4× speedup)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91947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Confidence-aware fallback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669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High-density 3rd path (&gt;3,000)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2669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Federated learning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669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Temporal smoothing for video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245352"/>
            <a:ext cx="11521440" cy="54864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3093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4F9CF9"/>
                </a:solidFill>
              </a:rPr>
              <a:t>"A 4.35M-parameter system that beats models 4× its size — through smart, learned routing."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9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Thank You ·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459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74720"/>
            <a:ext cx="3474720" cy="12344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</a:rPr>
              <a:t>MAE 180.9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Best Result — NWPU-Crowd 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2544" y="3474720"/>
            <a:ext cx="3474720" cy="12344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</a:rPr>
              <a:t>4.35M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4251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73.3% smaller than CSRNet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7" y="3474720"/>
            <a:ext cx="3474720" cy="123444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657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9CF9"/>
                </a:solidFill>
              </a:rPr>
              <a:t>−60.2%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4251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Sparse routing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436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GitHub: Crowd-Density-Hybrid-Model · NWPU-Crowd + ShanghaiTech Part A &amp; B · PyTorch 2.6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